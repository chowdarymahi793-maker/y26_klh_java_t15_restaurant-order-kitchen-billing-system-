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61" r:id="rId4"/>
    <p:sldId id="258" r:id="rId5"/>
    <p:sldId id="259" r:id="rId6"/>
    <p:sldId id="269" r:id="rId7"/>
    <p:sldId id="268" r:id="rId8"/>
    <p:sldId id="260" r:id="rId9"/>
    <p:sldId id="265" r:id="rId10"/>
    <p:sldId id="266" r:id="rId11"/>
    <p:sldId id="267" r:id="rId12"/>
    <p:sldId id="26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9" d="100"/>
          <a:sy n="59" d="100"/>
        </p:scale>
        <p:origin x="96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27AFC0-00B8-4117-895C-3E834B171036}" type="datetimeFigureOut">
              <a:rPr lang="en-IN" smtClean="0"/>
              <a:t>16-10-26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476CA-421D-4B57-8942-5762D93F1AB2}"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6F549C3-E12B-4CC2-9FA1-D4C0643B7241}" type="datetime1">
              <a:rPr lang="en-IN" smtClean="0"/>
              <a:t>16-10-26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7DE2E10-B9C9-4696-8C2C-567691D9BBFD}" type="datetime1">
              <a:rPr lang="en-IN" smtClean="0"/>
              <a:t>16-10-26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E4BF378-8F16-492D-87B3-963C20ACF441}" type="datetime1">
              <a:rPr lang="en-IN" smtClean="0"/>
              <a:t>16-10-26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C79781E-9150-4561-9F7C-01394C55C5AE}" type="datetime1">
              <a:rPr lang="en-IN" smtClean="0"/>
              <a:t>16-10-26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CEF12896-961F-4F7A-B2DD-D0EFF57BA027}" type="datetime1">
              <a:rPr lang="en-IN" smtClean="0"/>
              <a:t>16-10-26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012AB6-14AF-4351-87AD-D420B05274E1}" type="slidenum">
              <a:rPr lang="en-IN" smtClean="0"/>
              <a:t>‹#›</a:t>
            </a:fld>
            <a:endParaRPr lang="en-IN"/>
          </a:p>
        </p:txBody>
      </p:sp>
      <p:pic>
        <p:nvPicPr>
          <p:cNvPr id="11" name="Picture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8F51132-6BA4-40BC-AB03-D6B9C4F193FC}" type="datetime1">
              <a:rPr lang="en-IN" smtClean="0"/>
              <a:t>16-10-26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012AB6-14AF-4351-87AD-D420B05274E1}" type="slidenum">
              <a:rPr lang="en-IN" smtClean="0"/>
              <a:t>‹#›</a:t>
            </a:fld>
            <a:endParaRPr lang="en-IN"/>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D85D5E-B9E5-4C7E-88B1-43A66A7C3488}" type="datetime1">
              <a:rPr lang="en-IN" smtClean="0"/>
              <a:t>16-10-26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012AB6-14AF-4351-87AD-D420B05274E1}" type="slidenum">
              <a:rPr lang="en-IN" smtClean="0"/>
              <a:t>‹#›</a:t>
            </a:fld>
            <a:endParaRPr lang="en-IN"/>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DBE2A2-8283-469E-B4A1-D6877668ECFE}" type="datetime1">
              <a:rPr lang="en-IN" smtClean="0"/>
              <a:t>16-10-26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50A723-EDD4-4822-84BE-4B7F697B4E56}" type="datetime1">
              <a:rPr lang="en-IN" smtClean="0"/>
              <a:t>16-10-26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B848764-2CC6-431B-B501-1DF197EE73CC}" type="datetime1">
              <a:rPr lang="en-IN" smtClean="0"/>
              <a:t>16-10-26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4025" y="-164593"/>
            <a:ext cx="1215279" cy="1122363"/>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C5EEFFA-3959-41FE-A774-B9B27FD8983C}" type="datetime1">
              <a:rPr lang="en-IN" smtClean="0"/>
              <a:t>16-10-26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012AB6-14AF-4351-87AD-D420B05274E1}"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0F4BF4-0D93-4F1E-82BB-778F1EDDD45F}" type="datetime1">
              <a:rPr lang="en-IN" smtClean="0"/>
              <a:t>16-10-26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012AB6-14AF-4351-87AD-D420B05274E1}"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Layout" Target="../slideLayouts/slideLayout2.xml"/><Relationship Id="rId6" Type="http://schemas.openxmlformats.org/officeDocument/2006/relationships/image" Target="../media/image26.jpe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adyaParuchuri9" TargetMode="External"/><Relationship Id="rId2" Type="http://schemas.openxmlformats.org/officeDocument/2006/relationships/image" Target="../media/image25.png"/><Relationship Id="rId1" Type="http://schemas.openxmlformats.org/officeDocument/2006/relationships/slideLayout" Target="../slideLayouts/slideLayout2.xml"/><Relationship Id="rId5" Type="http://schemas.openxmlformats.org/officeDocument/2006/relationships/hyperlink" Target="https://github.com/Prishamyra" TargetMode="External"/><Relationship Id="rId4" Type="http://schemas.openxmlformats.org/officeDocument/2006/relationships/hyperlink" Target="https://github.com/chowdarymahi793-make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3008962"/>
          </a:xfrm>
        </p:spPr>
        <p:txBody>
          <a:bodyPr>
            <a:noAutofit/>
          </a:bodyPr>
          <a:lstStyle/>
          <a:p>
            <a:r>
              <a:rPr lang="en-IN" sz="5400" dirty="0"/>
              <a:t>RESTAURANT ORDER, KITCHEN &amp; BILLING SYSTEM</a:t>
            </a:r>
            <a:br>
              <a:rPr lang="en-IN" sz="5400" dirty="0"/>
            </a:br>
            <a:br>
              <a:rPr lang="en-IN" sz="5400" dirty="0"/>
            </a:br>
            <a:r>
              <a:rPr lang="en-IN" sz="5400" dirty="0"/>
              <a:t>   TEAM NO - 15</a:t>
            </a:r>
          </a:p>
        </p:txBody>
      </p:sp>
      <p:sp>
        <p:nvSpPr>
          <p:cNvPr id="3" name="Subtitle 2"/>
          <p:cNvSpPr>
            <a:spLocks noGrp="1"/>
          </p:cNvSpPr>
          <p:nvPr>
            <p:ph type="subTitle" idx="1"/>
          </p:nvPr>
        </p:nvSpPr>
        <p:spPr>
          <a:xfrm>
            <a:off x="1799421" y="4571523"/>
            <a:ext cx="9144000" cy="1655762"/>
          </a:xfrm>
        </p:spPr>
        <p:txBody>
          <a:bodyPr>
            <a:normAutofit/>
          </a:bodyPr>
          <a:lstStyle/>
          <a:p>
            <a:pPr algn="l"/>
            <a:r>
              <a:rPr lang="en-IN" dirty="0">
                <a:latin typeface="Times New Roman" panose="02020603050405020304" pitchFamily="18" charset="0"/>
                <a:cs typeface="Times New Roman" panose="02020603050405020304" pitchFamily="18" charset="0"/>
              </a:rPr>
              <a:t>                   Student Name: Aadya 	              Roll No: 2620030207</a:t>
            </a:r>
          </a:p>
          <a:p>
            <a:pPr algn="l"/>
            <a:r>
              <a:rPr lang="en-IN" dirty="0">
                <a:latin typeface="Times New Roman" panose="02020603050405020304" pitchFamily="18" charset="0"/>
                <a:cs typeface="Times New Roman" panose="02020603050405020304" pitchFamily="18" charset="0"/>
              </a:rPr>
              <a:t>                   Student Name: Mahitha  	              Roll No: 2620040029</a:t>
            </a:r>
          </a:p>
          <a:p>
            <a:pPr algn="l"/>
            <a:r>
              <a:rPr lang="en-IN" dirty="0">
                <a:latin typeface="Times New Roman" panose="02020603050405020304" pitchFamily="18" charset="0"/>
                <a:cs typeface="Times New Roman" panose="02020603050405020304" pitchFamily="18" charset="0"/>
              </a:rPr>
              <a:t>                   Student Name: Prisha B M            Roll No: 2620030639</a:t>
            </a:r>
          </a:p>
          <a:p>
            <a:endParaRPr lang="en-IN" dirty="0"/>
          </a:p>
        </p:txBody>
      </p:sp>
      <p:sp>
        <p:nvSpPr>
          <p:cNvPr id="9" name="Slide Number Placeholder 8"/>
          <p:cNvSpPr>
            <a:spLocks noGrp="1"/>
          </p:cNvSpPr>
          <p:nvPr>
            <p:ph type="sldNum" sz="quarter" idx="12"/>
          </p:nvPr>
        </p:nvSpPr>
        <p:spPr/>
        <p:txBody>
          <a:bodyPr/>
          <a:lstStyle/>
          <a:p>
            <a:fld id="{CB012AB6-14AF-4351-87AD-D420B05274E1}" type="slidenum">
              <a:rPr lang="en-IN" smtClean="0"/>
              <a:t>1</a:t>
            </a:fld>
            <a:endParaRPr lang="en-IN"/>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800" dirty="0">
                <a:cs typeface="Times New Roman" panose="02020603050405020304" pitchFamily="18" charset="0"/>
              </a:rPr>
              <a:t>ABSTRACT</a:t>
            </a:r>
          </a:p>
        </p:txBody>
      </p:sp>
      <p:sp>
        <p:nvSpPr>
          <p:cNvPr id="3" name="Content Placeholder 2"/>
          <p:cNvSpPr>
            <a:spLocks noGrp="1"/>
          </p:cNvSpPr>
          <p:nvPr>
            <p:ph idx="1"/>
          </p:nvPr>
        </p:nvSpPr>
        <p:spPr/>
        <p:txBody>
          <a:bodyPr>
            <a:normAutofit fontScale="40000" lnSpcReduction="20000"/>
          </a:bodyPr>
          <a:lstStyle/>
          <a:p>
            <a:pPr fontAlgn="base"/>
            <a:r>
              <a:rPr lang="en-IN" sz="4500" dirty="0">
                <a:latin typeface="Times New Roman" panose="02020603050405020304" pitchFamily="18" charset="0"/>
                <a:cs typeface="Times New Roman" panose="02020603050405020304" pitchFamily="18" charset="0"/>
              </a:rPr>
              <a:t> </a:t>
            </a:r>
            <a:r>
              <a:rPr lang="en-IN" sz="4500" b="1" dirty="0">
                <a:latin typeface="Times New Roman" panose="02020603050405020304" pitchFamily="18" charset="0"/>
                <a:cs typeface="Times New Roman" panose="02020603050405020304" pitchFamily="18" charset="0"/>
              </a:rPr>
              <a:t>Restaurant Order, Kitchen &amp; Billing System</a:t>
            </a:r>
            <a:r>
              <a:rPr lang="en-IN" sz="4500" dirty="0">
                <a:latin typeface="Times New Roman" panose="02020603050405020304" pitchFamily="18" charset="0"/>
                <a:cs typeface="Times New Roman" panose="02020603050405020304" pitchFamily="18" charset="0"/>
              </a:rPr>
              <a:t> </a:t>
            </a:r>
          </a:p>
          <a:p>
            <a:pPr fontAlgn="base"/>
            <a:r>
              <a:rPr lang="en-IN" sz="4500" dirty="0">
                <a:latin typeface="Times New Roman" panose="02020603050405020304" pitchFamily="18" charset="0"/>
                <a:cs typeface="Times New Roman" panose="02020603050405020304" pitchFamily="18" charset="0"/>
              </a:rPr>
              <a:t>The Restaurant Order, Kitchen &amp; Billing System is a software-based application developed to simplify and manage the major activities involved in restaurant operations. The system provides an organized platform for handling customer orders, communicating order details to the kitchen, tracking food preparation, and generating bills accurately. It reduces the need for manual record-keeping and helps minimize errors in order processing and billing. </a:t>
            </a:r>
          </a:p>
          <a:p>
            <a:pPr fontAlgn="base"/>
            <a:r>
              <a:rPr lang="en-IN" sz="4500" dirty="0">
                <a:latin typeface="Times New Roman" panose="02020603050405020304" pitchFamily="18" charset="0"/>
                <a:cs typeface="Times New Roman" panose="02020603050405020304" pitchFamily="18" charset="0"/>
              </a:rPr>
              <a:t>The system allows restaurant staff to view the available menu items, select items according to customer requirements, enter quantities, and place orders efficiently. Once an order is placed, the details can be made available to the kitchen staff, allowing them to prepare the required food items in an organized manner. The kitchen can update the status of each order, such as pending, preparing, or completed. This helps serving staff monitor orders and provide timely service to customers. </a:t>
            </a:r>
          </a:p>
          <a:p>
            <a:pPr fontAlgn="base"/>
            <a:r>
              <a:rPr lang="en-IN" sz="4500" dirty="0">
                <a:latin typeface="Times New Roman" panose="02020603050405020304" pitchFamily="18" charset="0"/>
                <a:cs typeface="Times New Roman" panose="02020603050405020304" pitchFamily="18" charset="0"/>
              </a:rPr>
              <a:t>The billing module calculates the cost of ordered items based on their prices and quantities. It can also include applicable taxes, discounts, and the final payable amount. The system maintains order and billing information, making it easier to retrieve records when required. </a:t>
            </a:r>
          </a:p>
          <a:p>
            <a:pPr fontAlgn="base"/>
            <a:r>
              <a:rPr lang="en-IN" sz="4500" dirty="0">
                <a:latin typeface="Times New Roman" panose="02020603050405020304" pitchFamily="18" charset="0"/>
                <a:cs typeface="Times New Roman" panose="02020603050405020304" pitchFamily="18" charset="0"/>
              </a:rPr>
              <a:t>Overall, the Restaurant Order, Kitchen &amp; Billing System improves operational efficiency, reduces communication gaps, saves time, and increases billing accuracy. By integrating ordering, kitchen management, and billing into one system, it provides a convenient and reliable solution for modern restaurants. The system can also be enhanced in the future with features such as online ordering, digital payments, customer management, inventory tracking, and sales reports.</a:t>
            </a:r>
          </a:p>
          <a:p>
            <a:pPr marL="0" indent="0">
              <a:buNone/>
            </a:pP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UNDERSTANDING PROBLEM STATEMENT</a:t>
            </a:r>
          </a:p>
        </p:txBody>
      </p:sp>
      <p:sp>
        <p:nvSpPr>
          <p:cNvPr id="3" name="Content Placeholder 2"/>
          <p:cNvSpPr>
            <a:spLocks noGrp="1"/>
          </p:cNvSpPr>
          <p:nvPr>
            <p:ph idx="1"/>
          </p:nvPr>
        </p:nvSpPr>
        <p:spPr/>
        <p:txBody>
          <a:bodyPr>
            <a:normAutofit fontScale="85000" lnSpcReduction="20000"/>
          </a:bodyPr>
          <a:lstStyle/>
          <a:p>
            <a:r>
              <a:rPr lang="en-IN" sz="3000" dirty="0">
                <a:latin typeface="Times New Roman" panose="02020603050405020304" pitchFamily="18" charset="0"/>
                <a:cs typeface="Times New Roman" panose="02020603050405020304" pitchFamily="18" charset="0"/>
              </a:rPr>
              <a:t>The </a:t>
            </a:r>
            <a:r>
              <a:rPr lang="en-IN" sz="3000" b="1" dirty="0">
                <a:latin typeface="Times New Roman" panose="02020603050405020304" pitchFamily="18" charset="0"/>
                <a:cs typeface="Times New Roman" panose="02020603050405020304" pitchFamily="18" charset="0"/>
              </a:rPr>
              <a:t>Restaurant Order, Kitchen &amp; Billing System </a:t>
            </a:r>
            <a:r>
              <a:rPr lang="en-IN" sz="3000" dirty="0">
                <a:latin typeface="Times New Roman" panose="02020603050405020304" pitchFamily="18" charset="0"/>
                <a:cs typeface="Times New Roman" panose="02020603050405020304" pitchFamily="18" charset="0"/>
              </a:rPr>
              <a:t>problem statement is about simulating how a restaurant works using Java programming concepts. The system begins with a menu where customers can select food items and specify the quantity they want. Once the order is placed, the kitchen section of the program processes it by displaying a message that the food is being prepared. After that, the billing system calculates the total cost by multiplying the price of the item with the quantity, applies discounts if the bill crosses a certain limit, and then generates a final payable amount. Finally, the program prints a neat bill summary that includes the customer’s name, the item ordered, the quantity, the total amount, any discount applied, and the final bill. In short, this problem statement combines ordering, kitchen processing, and billing into one flow, making it a practical example of how control flow, methods, recursion, and arrays can be applied in real-life scenarios.</a:t>
            </a:r>
          </a:p>
          <a:p>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 1 Topics</a:t>
            </a:r>
          </a:p>
        </p:txBody>
      </p:sp>
      <p:sp>
        <p:nvSpPr>
          <p:cNvPr id="4" name="Date Placeholder 3"/>
          <p:cNvSpPr>
            <a:spLocks noGrp="1"/>
          </p:cNvSpPr>
          <p:nvPr>
            <p:ph type="dt" sz="half" idx="10"/>
          </p:nvPr>
        </p:nvSpPr>
        <p:spPr/>
        <p:txBody>
          <a:bodyPr/>
          <a:lstStyle/>
          <a:p>
            <a:endParaRPr lang="en-IN" dirty="0"/>
          </a:p>
        </p:txBody>
      </p:sp>
      <p:sp>
        <p:nvSpPr>
          <p:cNvPr id="5" name="Slide Number Placeholder 4"/>
          <p:cNvSpPr>
            <a:spLocks noGrp="1"/>
          </p:cNvSpPr>
          <p:nvPr>
            <p:ph type="sldNum" sz="quarter" idx="12"/>
          </p:nvPr>
        </p:nvSpPr>
        <p:spPr/>
        <p:txBody>
          <a:bodyPr/>
          <a:lstStyle/>
          <a:p>
            <a:endParaRPr lang="en-IN" dirty="0"/>
          </a:p>
        </p:txBody>
      </p:sp>
      <p:pic>
        <p:nvPicPr>
          <p:cNvPr id="25" name="Content Placeholder 24"/>
          <p:cNvPicPr>
            <a:picLocks noGrp="1" noChangeAspect="1"/>
          </p:cNvPicPr>
          <p:nvPr>
            <p:ph idx="1"/>
          </p:nvPr>
        </p:nvPicPr>
        <p:blipFill>
          <a:blip r:embed="rId2"/>
          <a:stretch>
            <a:fillRect/>
          </a:stretch>
        </p:blipFill>
        <p:spPr>
          <a:xfrm>
            <a:off x="0" y="0"/>
            <a:ext cx="12192000" cy="6857999"/>
          </a:xfrm>
          <a:prstGeom prst="rect">
            <a:avLst/>
          </a:prstGeom>
        </p:spPr>
      </p:pic>
      <p:pic>
        <p:nvPicPr>
          <p:cNvPr id="27" name="Picture 26"/>
          <p:cNvPicPr>
            <a:picLocks noChangeAspect="1"/>
          </p:cNvPicPr>
          <p:nvPr/>
        </p:nvPicPr>
        <p:blipFill>
          <a:blip r:embed="rId3"/>
          <a:stretch>
            <a:fillRect/>
          </a:stretch>
        </p:blipFill>
        <p:spPr>
          <a:xfrm>
            <a:off x="10102093" y="0"/>
            <a:ext cx="1486107" cy="14384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 2 TOPICS</a:t>
            </a:r>
          </a:p>
        </p:txBody>
      </p:sp>
      <p:pic>
        <p:nvPicPr>
          <p:cNvPr id="7" name="Content Placeholder 6"/>
          <p:cNvPicPr>
            <a:picLocks noGrp="1" noChangeAspect="1"/>
          </p:cNvPicPr>
          <p:nvPr>
            <p:ph idx="1"/>
          </p:nvPr>
        </p:nvPicPr>
        <p:blipFill>
          <a:blip r:embed="rId2"/>
          <a:stretch>
            <a:fillRect/>
          </a:stretch>
        </p:blipFill>
        <p:spPr>
          <a:xfrm>
            <a:off x="0" y="0"/>
            <a:ext cx="12192000" cy="6951643"/>
          </a:xfrm>
          <a:prstGeom prst="rect">
            <a:avLst/>
          </a:prstGeom>
        </p:spPr>
      </p:pic>
      <p:pic>
        <p:nvPicPr>
          <p:cNvPr id="9" name="Picture 8"/>
          <p:cNvPicPr>
            <a:picLocks noChangeAspect="1"/>
          </p:cNvPicPr>
          <p:nvPr/>
        </p:nvPicPr>
        <p:blipFill>
          <a:blip r:embed="rId3"/>
          <a:stretch>
            <a:fillRect/>
          </a:stretch>
        </p:blipFill>
        <p:spPr>
          <a:xfrm>
            <a:off x="9700311" y="0"/>
            <a:ext cx="1447828" cy="160846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p:cNvPicPr>
            <a:picLocks noChangeAspect="1"/>
          </p:cNvPicPr>
          <p:nvPr/>
        </p:nvPicPr>
        <p:blipFill>
          <a:blip r:embed="rId2"/>
          <a:stretch>
            <a:fillRect/>
          </a:stretch>
        </p:blipFill>
        <p:spPr>
          <a:xfrm>
            <a:off x="0" y="0"/>
            <a:ext cx="12192000" cy="6858000"/>
          </a:xfrm>
          <a:prstGeom prst="rect">
            <a:avLst/>
          </a:prstGeom>
        </p:spPr>
      </p:pic>
      <p:pic>
        <p:nvPicPr>
          <p:cNvPr id="22" name="Picture 21"/>
          <p:cNvPicPr>
            <a:picLocks noChangeAspect="1"/>
          </p:cNvPicPr>
          <p:nvPr/>
        </p:nvPicPr>
        <p:blipFill>
          <a:blip r:embed="rId3"/>
          <a:stretch>
            <a:fillRect/>
          </a:stretch>
        </p:blipFill>
        <p:spPr>
          <a:xfrm>
            <a:off x="9546517" y="0"/>
            <a:ext cx="1648055" cy="1542361"/>
          </a:xfrm>
          <a:prstGeom prst="rect">
            <a:avLst/>
          </a:prstGeom>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061812" y="0"/>
            <a:ext cx="2599839" cy="13991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p:cNvPicPr>
            <a:picLocks noChangeAspect="1"/>
          </p:cNvPicPr>
          <p:nvPr/>
        </p:nvPicPr>
        <p:blipFill>
          <a:blip r:embed="rId2"/>
          <a:stretch>
            <a:fillRect/>
          </a:stretch>
        </p:blipFill>
        <p:spPr>
          <a:xfrm>
            <a:off x="0" y="0"/>
            <a:ext cx="12192000" cy="6857999"/>
          </a:xfrm>
          <a:prstGeom prst="rect">
            <a:avLst/>
          </a:prstGeom>
        </p:spPr>
      </p:pic>
      <p:pic>
        <p:nvPicPr>
          <p:cNvPr id="20" name="Picture 19"/>
          <p:cNvPicPr>
            <a:picLocks noChangeAspect="1"/>
          </p:cNvPicPr>
          <p:nvPr/>
        </p:nvPicPr>
        <p:blipFill>
          <a:blip r:embed="rId3"/>
          <a:stretch>
            <a:fillRect/>
          </a:stretch>
        </p:blipFill>
        <p:spPr>
          <a:xfrm>
            <a:off x="9573346" y="97273"/>
            <a:ext cx="1991003" cy="141942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 3 Topics</a:t>
            </a:r>
          </a:p>
        </p:txBody>
      </p:sp>
      <p:sp>
        <p:nvSpPr>
          <p:cNvPr id="4" name="Date Placeholder 3"/>
          <p:cNvSpPr>
            <a:spLocks noGrp="1"/>
          </p:cNvSpPr>
          <p:nvPr>
            <p:ph type="dt" sz="half" idx="10"/>
          </p:nvPr>
        </p:nvSpPr>
        <p:spPr/>
        <p:txBody>
          <a:bodyPr/>
          <a:lstStyle/>
          <a:p>
            <a:endParaRPr lang="en-IN" dirty="0"/>
          </a:p>
        </p:txBody>
      </p:sp>
      <p:pic>
        <p:nvPicPr>
          <p:cNvPr id="11" name="Content Placeholder 10"/>
          <p:cNvPicPr>
            <a:picLocks noGrp="1" noChangeAspect="1"/>
          </p:cNvPicPr>
          <p:nvPr>
            <p:ph idx="1"/>
          </p:nvPr>
        </p:nvPicPr>
        <p:blipFill>
          <a:blip r:embed="rId2"/>
          <a:stretch>
            <a:fillRect/>
          </a:stretch>
        </p:blipFill>
        <p:spPr>
          <a:xfrm>
            <a:off x="0" y="0"/>
            <a:ext cx="12192000" cy="6857999"/>
          </a:xfrm>
          <a:prstGeom prst="rect">
            <a:avLst/>
          </a:prstGeom>
        </p:spPr>
      </p:pic>
      <p:pic>
        <p:nvPicPr>
          <p:cNvPr id="13" name="Picture 12"/>
          <p:cNvPicPr>
            <a:picLocks noChangeAspect="1"/>
          </p:cNvPicPr>
          <p:nvPr/>
        </p:nvPicPr>
        <p:blipFill>
          <a:blip r:embed="rId3"/>
          <a:stretch>
            <a:fillRect/>
          </a:stretch>
        </p:blipFill>
        <p:spPr>
          <a:xfrm>
            <a:off x="10143897" y="0"/>
            <a:ext cx="1086002" cy="1581371"/>
          </a:xfrm>
          <a:prstGeom prst="rect">
            <a:avLst/>
          </a:prstGeom>
        </p:spPr>
      </p:pic>
      <p:pic>
        <p:nvPicPr>
          <p:cNvPr id="17" name="Picture 1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04470" y="365125"/>
            <a:ext cx="1520327" cy="11567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 6</a:t>
            </a:r>
          </a:p>
        </p:txBody>
      </p:sp>
      <p:pic>
        <p:nvPicPr>
          <p:cNvPr id="7" name="Content Placeholder 6"/>
          <p:cNvPicPr>
            <a:picLocks noGrp="1" noChangeAspect="1"/>
          </p:cNvPicPr>
          <p:nvPr>
            <p:ph idx="1"/>
          </p:nvPr>
        </p:nvPicPr>
        <p:blipFill>
          <a:blip r:embed="rId2"/>
          <a:stretch>
            <a:fillRect/>
          </a:stretch>
        </p:blipFill>
        <p:spPr>
          <a:xfrm>
            <a:off x="0" y="0"/>
            <a:ext cx="12192000" cy="6858000"/>
          </a:xfrm>
          <a:prstGeom prst="rect">
            <a:avLst/>
          </a:prstGeom>
        </p:spPr>
      </p:pic>
      <p:pic>
        <p:nvPicPr>
          <p:cNvPr id="9" name="Picture 8"/>
          <p:cNvPicPr>
            <a:picLocks noChangeAspect="1"/>
          </p:cNvPicPr>
          <p:nvPr/>
        </p:nvPicPr>
        <p:blipFill>
          <a:blip r:embed="rId3"/>
          <a:stretch>
            <a:fillRect/>
          </a:stretch>
        </p:blipFill>
        <p:spPr>
          <a:xfrm>
            <a:off x="9665562" y="-18696"/>
            <a:ext cx="1057423" cy="1057423"/>
          </a:xfrm>
          <a:prstGeom prst="rect">
            <a:avLst/>
          </a:prstGeom>
        </p:spPr>
      </p:pic>
      <p:pic>
        <p:nvPicPr>
          <p:cNvPr id="11" name="Picture 10"/>
          <p:cNvPicPr>
            <a:picLocks noChangeAspect="1"/>
          </p:cNvPicPr>
          <p:nvPr/>
        </p:nvPicPr>
        <p:blipFill>
          <a:blip r:embed="rId4"/>
          <a:stretch>
            <a:fillRect/>
          </a:stretch>
        </p:blipFill>
        <p:spPr>
          <a:xfrm>
            <a:off x="9270219" y="879408"/>
            <a:ext cx="1848108" cy="6235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pic>
        <p:nvPicPr>
          <p:cNvPr id="11" name="Content Placeholder 10"/>
          <p:cNvPicPr>
            <a:picLocks noGrp="1" noChangeAspect="1"/>
          </p:cNvPicPr>
          <p:nvPr>
            <p:ph idx="1"/>
          </p:nvPr>
        </p:nvPicPr>
        <p:blipFill>
          <a:blip r:embed="rId2"/>
          <a:stretch>
            <a:fillRect/>
          </a:stretch>
        </p:blipFill>
        <p:spPr>
          <a:xfrm>
            <a:off x="-77120" y="0"/>
            <a:ext cx="12269119" cy="6858000"/>
          </a:xfrm>
          <a:prstGeom prst="rect">
            <a:avLst/>
          </a:prstGeom>
        </p:spPr>
      </p:pic>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120" y="0"/>
            <a:ext cx="1226912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Screen Shots</a:t>
            </a:r>
          </a:p>
        </p:txBody>
      </p: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52712" y="1519237"/>
            <a:ext cx="6886575" cy="5338763"/>
          </a:xfrm>
          <a:prstGeom prst="rect">
            <a:avLst/>
          </a:prstGeom>
        </p:spPr>
      </p:pic>
      <p:pic>
        <p:nvPicPr>
          <p:cNvPr id="34" name="Content Placeholder 33"/>
          <p:cNvPicPr>
            <a:picLocks noGrp="1" noChangeAspect="1"/>
          </p:cNvPicPr>
          <p:nvPr>
            <p:ph idx="1"/>
          </p:nvPr>
        </p:nvPicPr>
        <p:blipFill>
          <a:blip r:embed="rId3"/>
          <a:stretch>
            <a:fillRect/>
          </a:stretch>
        </p:blipFill>
        <p:spPr>
          <a:xfrm>
            <a:off x="0" y="0"/>
            <a:ext cx="12192000" cy="6858000"/>
          </a:xfrm>
          <a:prstGeom prst="rect">
            <a:avLst/>
          </a:prstGeom>
        </p:spPr>
      </p:pic>
      <p:pic>
        <p:nvPicPr>
          <p:cNvPr id="36" name="Picture 35"/>
          <p:cNvPicPr>
            <a:picLocks noChangeAspect="1"/>
          </p:cNvPicPr>
          <p:nvPr/>
        </p:nvPicPr>
        <p:blipFill>
          <a:blip r:embed="rId4"/>
          <a:stretch>
            <a:fillRect/>
          </a:stretch>
        </p:blipFill>
        <p:spPr>
          <a:xfrm>
            <a:off x="0" y="0"/>
            <a:ext cx="12192000" cy="6858000"/>
          </a:xfrm>
          <a:prstGeom prst="rect">
            <a:avLst/>
          </a:prstGeom>
        </p:spPr>
      </p:pic>
      <p:pic>
        <p:nvPicPr>
          <p:cNvPr id="38" name="Picture 37"/>
          <p:cNvPicPr>
            <a:picLocks noChangeAspect="1"/>
          </p:cNvPicPr>
          <p:nvPr/>
        </p:nvPicPr>
        <p:blipFill>
          <a:blip r:embed="rId5"/>
          <a:stretch>
            <a:fillRect/>
          </a:stretch>
        </p:blipFill>
        <p:spPr>
          <a:xfrm>
            <a:off x="3602515" y="600113"/>
            <a:ext cx="340203" cy="684136"/>
          </a:xfrm>
          <a:prstGeom prst="rect">
            <a:avLst/>
          </a:prstGeom>
        </p:spPr>
      </p:pic>
      <p:pic>
        <p:nvPicPr>
          <p:cNvPr id="40" name="Picture 3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Geo Tag Photo and git hub link</a:t>
            </a:r>
          </a:p>
        </p:txBody>
      </p:sp>
      <p:pic>
        <p:nvPicPr>
          <p:cNvPr id="9" name="Picture 8"/>
          <p:cNvPicPr>
            <a:picLocks noChangeAspect="1"/>
          </p:cNvPicPr>
          <p:nvPr/>
        </p:nvPicPr>
        <p:blipFill>
          <a:blip r:embed="rId2"/>
          <a:stretch>
            <a:fillRect/>
          </a:stretch>
        </p:blipFill>
        <p:spPr>
          <a:xfrm>
            <a:off x="2652712" y="1519237"/>
            <a:ext cx="6886575" cy="5245120"/>
          </a:xfrm>
          <a:prstGeom prst="rect">
            <a:avLst/>
          </a:prstGeom>
        </p:spPr>
      </p:pic>
      <p:pic>
        <p:nvPicPr>
          <p:cNvPr id="17" name="Content Placeholder 16"/>
          <p:cNvPicPr>
            <a:picLocks noGrp="1" noChangeAspect="1"/>
          </p:cNvPicPr>
          <p:nvPr>
            <p:ph idx="1"/>
          </p:nvPr>
        </p:nvPicPr>
        <p:blipFill>
          <a:blip r:embed="rId2"/>
          <a:stretch>
            <a:fillRect/>
          </a:stretch>
        </p:blipFill>
        <p:spPr>
          <a:xfrm>
            <a:off x="0" y="-19049"/>
            <a:ext cx="12192000" cy="6858000"/>
          </a:xfrm>
          <a:prstGeom prst="rect">
            <a:avLst/>
          </a:prstGeom>
        </p:spPr>
      </p:pic>
      <p:sp>
        <p:nvSpPr>
          <p:cNvPr id="22" name="TextBox 21"/>
          <p:cNvSpPr txBox="1"/>
          <p:nvPr/>
        </p:nvSpPr>
        <p:spPr>
          <a:xfrm>
            <a:off x="1079653" y="412034"/>
            <a:ext cx="10361554" cy="830997"/>
          </a:xfrm>
          <a:prstGeom prst="rect">
            <a:avLst/>
          </a:prstGeom>
          <a:noFill/>
        </p:spPr>
        <p:txBody>
          <a:bodyPr wrap="none" rtlCol="0">
            <a:spAutoFit/>
          </a:bodyPr>
          <a:lstStyle/>
          <a:p>
            <a:r>
              <a:rPr lang="en-IN" sz="4800" b="1" dirty="0">
                <a:latin typeface="Times New Roman" panose="02020603050405020304" pitchFamily="18" charset="0"/>
                <a:cs typeface="Times New Roman" panose="02020603050405020304" pitchFamily="18" charset="0"/>
              </a:rPr>
              <a:t>GEO TAG PHOTO &amp; GITHUB LINK</a:t>
            </a:r>
          </a:p>
        </p:txBody>
      </p:sp>
      <p:sp>
        <p:nvSpPr>
          <p:cNvPr id="24" name="TextBox 23"/>
          <p:cNvSpPr txBox="1"/>
          <p:nvPr/>
        </p:nvSpPr>
        <p:spPr>
          <a:xfrm>
            <a:off x="1178805" y="5436423"/>
            <a:ext cx="1906291" cy="369332"/>
          </a:xfrm>
          <a:prstGeom prst="rect">
            <a:avLst/>
          </a:prstGeom>
          <a:noFill/>
        </p:spPr>
        <p:txBody>
          <a:bodyPr wrap="none" rtlCol="0">
            <a:spAutoFit/>
          </a:bodyPr>
          <a:lstStyle/>
          <a:p>
            <a:r>
              <a:rPr lang="en-IN" dirty="0">
                <a:latin typeface="Times New Roman" panose="02020603050405020304" pitchFamily="18" charset="0"/>
                <a:cs typeface="Times New Roman" panose="02020603050405020304" pitchFamily="18" charset="0"/>
              </a:rPr>
              <a:t>GITHUB LINKS</a:t>
            </a:r>
            <a:r>
              <a:rPr lang="en-IN" dirty="0"/>
              <a:t>: </a:t>
            </a:r>
          </a:p>
        </p:txBody>
      </p:sp>
      <p:sp>
        <p:nvSpPr>
          <p:cNvPr id="33" name="TextBox 32"/>
          <p:cNvSpPr txBox="1"/>
          <p:nvPr/>
        </p:nvSpPr>
        <p:spPr>
          <a:xfrm>
            <a:off x="3085096" y="5805755"/>
            <a:ext cx="184731" cy="369332"/>
          </a:xfrm>
          <a:prstGeom prst="rect">
            <a:avLst/>
          </a:prstGeom>
          <a:noFill/>
        </p:spPr>
        <p:txBody>
          <a:bodyPr wrap="none" rtlCol="0">
            <a:spAutoFit/>
          </a:bodyPr>
          <a:lstStyle/>
          <a:p>
            <a:endParaRPr lang="en-IN" dirty="0"/>
          </a:p>
        </p:txBody>
      </p:sp>
      <p:sp>
        <p:nvSpPr>
          <p:cNvPr id="37" name="TextBox 36"/>
          <p:cNvSpPr txBox="1"/>
          <p:nvPr/>
        </p:nvSpPr>
        <p:spPr>
          <a:xfrm>
            <a:off x="2363362" y="5407291"/>
            <a:ext cx="6208004" cy="1015663"/>
          </a:xfrm>
          <a:prstGeom prst="rect">
            <a:avLst/>
          </a:prstGeom>
          <a:noFill/>
        </p:spPr>
        <p:txBody>
          <a:bodyPr wrap="square">
            <a:spAutoFit/>
          </a:bodyPr>
          <a:lstStyle/>
          <a:p>
            <a:pPr algn="l"/>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3"/>
              </a:rPr>
              <a:t>https://github.com/AadyaParuchuri9</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4"/>
              </a:rPr>
              <a:t>https://github.com/chowdarymahi793-maker</a:t>
            </a:r>
            <a:endParaRPr lang="en-IN" sz="2000" dirty="0">
              <a:latin typeface="Times New Roman" panose="02020603050405020304" pitchFamily="18" charset="0"/>
              <a:cs typeface="Times New Roman" panose="02020603050405020304" pitchFamily="18" charset="0"/>
            </a:endParaRPr>
          </a:p>
          <a:p>
            <a:pPr algn="l"/>
            <a:r>
              <a:rPr lang="en-IN" sz="200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hlinkClick r:id="rId5"/>
              </a:rPr>
              <a:t>https://github.com/Prishamyra</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Bjorn</Template>
  <TotalTime>5</TotalTime>
  <Words>581</Words>
  <Application>Microsoft Office PowerPoint</Application>
  <PresentationFormat>Widescreen</PresentationFormat>
  <Paragraphs>24</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Aptos Display</vt:lpstr>
      <vt:lpstr>Arial</vt:lpstr>
      <vt:lpstr>Times New Roman</vt:lpstr>
      <vt:lpstr>Office Theme</vt:lpstr>
      <vt:lpstr>RESTAURANT ORDER, KITCHEN &amp; BILLING SYSTEM     TEAM NO - 15</vt:lpstr>
      <vt:lpstr>ABSTRACT</vt:lpstr>
      <vt:lpstr>UNDERSTANDING PROBLEM STATEMENT</vt:lpstr>
      <vt:lpstr>CO 1 Topics</vt:lpstr>
      <vt:lpstr>Co 2 TOPICS</vt:lpstr>
      <vt:lpstr>PowerPoint Presentation</vt:lpstr>
      <vt:lpstr>PowerPoint Presentation</vt:lpstr>
      <vt:lpstr>CO 3 Topics</vt:lpstr>
      <vt:lpstr>CO 6</vt:lpstr>
      <vt:lpstr>Conclusion</vt:lpstr>
      <vt:lpstr>Screen Shots</vt:lpstr>
      <vt:lpstr>Geo Tag Photo and git hub link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TSP MADHURI</dc:creator>
  <cp:lastModifiedBy>Mahitha Chowdary</cp:lastModifiedBy>
  <cp:revision>4</cp:revision>
  <dcterms:created xsi:type="dcterms:W3CDTF">2026-09-15T09:57:00Z</dcterms:created>
  <dcterms:modified xsi:type="dcterms:W3CDTF">2026-10-16T03:32:02Z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DA3E4BCE969747F68534D86116FD1D1E_13</vt:lpwstr>
  </property>
  <property fmtid="{D5CDD505-2E9C-101B-9397-08002B2CF9AE}" pid="3" name="KSOProductBuildVer">
    <vt:lpwstr>1033-12.1.0.28485</vt:lpwstr>
  </property>
</Properties>
</file>